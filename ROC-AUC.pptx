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3DBAA4-AA2F-F5E8-9760-226703F60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D5F9445-6809-BDAF-F389-9F91A5E77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2D4DED8-5F12-C593-40B3-A6DCDC849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8B3F-9633-4082-AACA-0C5C9CABD5EF}" type="datetimeFigureOut">
              <a:rPr lang="it-IT" smtClean="0"/>
              <a:t>21/06/2026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2EA5CF7-637B-A1D1-E01D-5CBA6E772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25BC19A-CC16-E6B2-1F71-8CBB89A9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0BEB-9413-4DDB-95E1-68B4E590DE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20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16DAE6-5A10-9151-112A-ECDC0613A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5DC6DC-76DB-F9BD-BE0D-27237AE76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78B7EF-4924-2439-A418-450EE05B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8B3F-9633-4082-AACA-0C5C9CABD5EF}" type="datetimeFigureOut">
              <a:rPr lang="it-IT" smtClean="0"/>
              <a:t>21/06/2026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F603F9C-91F5-2193-6904-EA2B9AFC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C8102CA-B9E8-730A-A2A3-F72BF6D5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0BEB-9413-4DDB-95E1-68B4E590DE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6368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969CC7-9F07-0DE8-0957-A862DFB6B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9D6C8FF-DB42-B401-074B-6C153AF7B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0F8F4F-36A7-C8EC-F68A-6A8FA738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8B3F-9633-4082-AACA-0C5C9CABD5EF}" type="datetimeFigureOut">
              <a:rPr lang="it-IT" smtClean="0"/>
              <a:t>21/06/2026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794761-1BF6-121F-1E4D-42D960185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092DCF-FE09-BC71-BBC9-AA29C1D9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0BEB-9413-4DDB-95E1-68B4E590DE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12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E66F28-D75A-7139-E1FB-5AD17987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756675C-2AAA-0332-F2DC-FB43EFE23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6215B7-B1E9-1CE3-7931-7201BA39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E90BF58-83B1-67F3-F901-7954AB083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8B3F-9633-4082-AACA-0C5C9CABD5EF}" type="datetimeFigureOut">
              <a:rPr lang="it-IT" smtClean="0"/>
              <a:t>21/06/2026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2FF9DDE-5E82-EA01-120C-2EE70D10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14AA63F-7832-7ED1-359B-9A6B6BE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0BEB-9413-4DDB-95E1-68B4E590DE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2652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14F032-433A-0F96-3821-084AD7520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1541F6-CBEC-1B44-523B-05A2B145F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A1DAC65-3956-CA82-C40E-2783825F2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7EE21C0-D71F-5AF0-E380-FBD18C6CA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91DFCBC-0EA2-FFB0-4A91-14EB2C61E5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1B3E66F-3A39-E471-A054-543F17E88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8B3F-9633-4082-AACA-0C5C9CABD5EF}" type="datetimeFigureOut">
              <a:rPr lang="it-IT" smtClean="0"/>
              <a:t>21/06/2026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4FB9E92-3F3F-875B-FB44-D821C1DF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9BBC16D-C8C2-3492-A992-B31A7A3D9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0BEB-9413-4DDB-95E1-68B4E590DE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636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8BF6B-4314-C478-15C3-4CE29795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2C35F42-819F-E718-3941-66FE30EC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8B3F-9633-4082-AACA-0C5C9CABD5EF}" type="datetimeFigureOut">
              <a:rPr lang="it-IT" smtClean="0"/>
              <a:t>21/06/2026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1234CAC-515E-0A96-38C4-1C3913E6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6F85344-8C76-BA3E-5414-9D287DB33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0BEB-9413-4DDB-95E1-68B4E590DE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6183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61474CC-E04D-5D39-36CD-07B153A5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8B3F-9633-4082-AACA-0C5C9CABD5EF}" type="datetimeFigureOut">
              <a:rPr lang="it-IT" smtClean="0"/>
              <a:t>21/06/2026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F25A04F-0445-17EE-4DF5-ED258642F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A76852-5B9B-0FD2-2593-471CE133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0BEB-9413-4DDB-95E1-68B4E590DE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7008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054D6B-951E-CDB3-89D0-4D606D3E5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09C758-3415-14F6-72FC-80A821A86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BD8129F-CF54-BFF8-6E09-23F53C019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30E22FF-B895-9C22-77C5-4FFD5E0D1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8B3F-9633-4082-AACA-0C5C9CABD5EF}" type="datetimeFigureOut">
              <a:rPr lang="it-IT" smtClean="0"/>
              <a:t>21/06/2026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C3CE433-03C5-ADF2-719F-BA484087D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4FDBB3-6EF9-D8F4-2955-1064D8598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0BEB-9413-4DDB-95E1-68B4E590DE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130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5D5C6A-6822-4621-135A-8F30F6AD4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3C96B85-9991-BA71-9E9C-069D94D28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B2E59A2-7682-A98A-5633-97712C654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0A231D6-E608-DDF5-4F6D-233F7AAC3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8B3F-9633-4082-AACA-0C5C9CABD5EF}" type="datetimeFigureOut">
              <a:rPr lang="it-IT" smtClean="0"/>
              <a:t>21/06/2026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FA7D273-95FD-D205-7560-CC89EC01E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D63AA6-A7D3-447C-5F8F-3C7F0EC3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0BEB-9413-4DDB-95E1-68B4E590DE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250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9C9E8F-80BE-CD5D-6762-629A38C5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5C37D72-C966-9B59-E42B-BD728A0FB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669083-4B81-C734-97F0-73A4235E6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8B3F-9633-4082-AACA-0C5C9CABD5EF}" type="datetimeFigureOut">
              <a:rPr lang="it-IT" smtClean="0"/>
              <a:t>21/06/2026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A02D9D-A07E-344D-1236-6815E7025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7A34207-0B79-DFFD-64EE-D4B121719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0BEB-9413-4DDB-95E1-68B4E590DE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778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5A7AE84-6AF7-E38A-B891-0A2CB191EC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3CFED5-3E09-555B-4A42-91B352954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B39305-64A9-A0AE-DDB5-6EEDF85C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8B3F-9633-4082-AACA-0C5C9CABD5EF}" type="datetimeFigureOut">
              <a:rPr lang="it-IT" smtClean="0"/>
              <a:t>21/06/2026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0FA664-95F8-8297-C034-B3E618CD9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604CC7-3E39-8B6A-86A5-61BDF8E0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0BEB-9413-4DDB-95E1-68B4E590DE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0297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B56AD84-26C0-2C2B-97A2-0140727FB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27683F3-F864-1A53-9127-392E738E5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76231E-1099-F3D4-E4AA-731EF3D5D4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28B3F-9633-4082-AACA-0C5C9CABD5EF}" type="datetimeFigureOut">
              <a:rPr lang="it-IT" smtClean="0"/>
              <a:t>21/06/2026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4F0031-26A6-E6D6-CA9C-1FF87EA0C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401A8C-90A3-D66B-9293-F18B8779C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00BEB-9413-4DDB-95E1-68B4E590DE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8907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1B1B760-3BFB-B8FE-F5E3-B9CE41B11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390525"/>
            <a:ext cx="5760477" cy="57912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FCC86DD-DD8D-BAE3-053C-8D5DFCE69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652" y="390525"/>
            <a:ext cx="6135360" cy="532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9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9625600B-16AF-EC47-BE19-5A79E2554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281"/>
            <a:ext cx="12192000" cy="616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94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793933F8-FFE2-1EF6-FACD-56DF2494C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884"/>
            <a:ext cx="8267700" cy="619505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59CD1A6F-E1DE-61E8-1C58-ED97789BF576}"/>
              </a:ext>
            </a:extLst>
          </p:cNvPr>
          <p:cNvSpPr txBox="1"/>
          <p:nvPr/>
        </p:nvSpPr>
        <p:spPr>
          <a:xfrm>
            <a:off x="8077200" y="1006752"/>
            <a:ext cx="393382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Figure 8-5. An </a:t>
            </a:r>
            <a:r>
              <a:rPr lang="it-IT" dirty="0" err="1"/>
              <a:t>illustration</a:t>
            </a:r>
            <a:r>
              <a:rPr lang="it-IT" dirty="0"/>
              <a:t> of </a:t>
            </a:r>
            <a:r>
              <a:rPr lang="it-IT" dirty="0" err="1"/>
              <a:t>how</a:t>
            </a:r>
            <a:r>
              <a:rPr lang="it-IT" dirty="0"/>
              <a:t> a ROC “curve” (</a:t>
            </a:r>
            <a:r>
              <a:rPr lang="it-IT" dirty="0" err="1"/>
              <a:t>really</a:t>
            </a:r>
            <a:r>
              <a:rPr lang="it-IT" dirty="0"/>
              <a:t>, a </a:t>
            </a:r>
            <a:r>
              <a:rPr lang="it-IT" dirty="0" err="1"/>
              <a:t>stepwise</a:t>
            </a:r>
            <a:r>
              <a:rPr lang="it-IT" dirty="0"/>
              <a:t> </a:t>
            </a:r>
            <a:r>
              <a:rPr lang="it-IT" dirty="0" err="1"/>
              <a:t>graph</a:t>
            </a:r>
            <a:r>
              <a:rPr lang="it-IT" dirty="0"/>
              <a:t>)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constructed</a:t>
            </a:r>
            <a:r>
              <a:rPr lang="it-IT" dirty="0"/>
              <a:t> from a test set. The </a:t>
            </a:r>
            <a:r>
              <a:rPr lang="it-IT" dirty="0" err="1"/>
              <a:t>example</a:t>
            </a:r>
            <a:r>
              <a:rPr lang="it-IT" dirty="0"/>
              <a:t> set,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left</a:t>
            </a:r>
            <a:r>
              <a:rPr lang="it-IT" dirty="0"/>
              <a:t>, </a:t>
            </a:r>
            <a:r>
              <a:rPr lang="it-IT" dirty="0" err="1"/>
              <a:t>consists</a:t>
            </a:r>
            <a:r>
              <a:rPr lang="it-IT" dirty="0"/>
              <a:t> of 100 </a:t>
            </a:r>
            <a:r>
              <a:rPr lang="it-IT" dirty="0" err="1"/>
              <a:t>positives</a:t>
            </a:r>
            <a:r>
              <a:rPr lang="it-IT" dirty="0"/>
              <a:t> and 100 </a:t>
            </a:r>
            <a:r>
              <a:rPr lang="it-IT" dirty="0" err="1"/>
              <a:t>negatives</a:t>
            </a:r>
            <a:r>
              <a:rPr lang="it-IT" dirty="0"/>
              <a:t>. The model </a:t>
            </a:r>
            <a:r>
              <a:rPr lang="it-IT" dirty="0" err="1"/>
              <a:t>assigns</a:t>
            </a:r>
            <a:r>
              <a:rPr lang="it-IT" dirty="0"/>
              <a:t> a score to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instance</a:t>
            </a:r>
            <a:r>
              <a:rPr lang="it-IT" dirty="0"/>
              <a:t> and the </a:t>
            </a:r>
            <a:r>
              <a:rPr lang="it-IT" dirty="0" err="1"/>
              <a:t>instances</a:t>
            </a:r>
            <a:r>
              <a:rPr lang="it-IT" dirty="0"/>
              <a:t> are </a:t>
            </a:r>
            <a:r>
              <a:rPr lang="it-IT" dirty="0" err="1"/>
              <a:t>ordered</a:t>
            </a:r>
            <a:r>
              <a:rPr lang="it-IT" dirty="0"/>
              <a:t> </a:t>
            </a:r>
            <a:r>
              <a:rPr lang="it-IT" dirty="0" err="1"/>
              <a:t>decreasing</a:t>
            </a:r>
            <a:r>
              <a:rPr lang="it-IT" dirty="0"/>
              <a:t> from bottom to top. To </a:t>
            </a:r>
            <a:r>
              <a:rPr lang="it-IT" dirty="0" err="1"/>
              <a:t>construct</a:t>
            </a:r>
            <a:r>
              <a:rPr lang="it-IT" dirty="0"/>
              <a:t> the curve, start </a:t>
            </a:r>
            <a:r>
              <a:rPr lang="it-IT" dirty="0" err="1"/>
              <a:t>at</a:t>
            </a:r>
            <a:r>
              <a:rPr lang="it-IT" dirty="0"/>
              <a:t> the bottom with an </a:t>
            </a:r>
            <a:r>
              <a:rPr lang="it-IT" dirty="0" err="1"/>
              <a:t>initial</a:t>
            </a:r>
            <a:r>
              <a:rPr lang="it-IT" dirty="0"/>
              <a:t> </a:t>
            </a:r>
            <a:r>
              <a:rPr lang="it-IT" dirty="0" err="1"/>
              <a:t>confusion</a:t>
            </a:r>
            <a:r>
              <a:rPr lang="it-IT" dirty="0"/>
              <a:t> </a:t>
            </a:r>
            <a:r>
              <a:rPr lang="it-IT" dirty="0" err="1"/>
              <a:t>matrix</a:t>
            </a:r>
            <a:r>
              <a:rPr lang="it-IT" dirty="0"/>
              <a:t> </a:t>
            </a:r>
            <a:r>
              <a:rPr lang="it-IT" dirty="0" err="1"/>
              <a:t>where</a:t>
            </a:r>
            <a:r>
              <a:rPr lang="it-IT" dirty="0"/>
              <a:t>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classified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N. </a:t>
            </a:r>
            <a:r>
              <a:rPr lang="it-IT" dirty="0" err="1"/>
              <a:t>Moving</a:t>
            </a:r>
            <a:r>
              <a:rPr lang="it-IT" dirty="0"/>
              <a:t> </a:t>
            </a:r>
            <a:r>
              <a:rPr lang="it-IT" dirty="0" err="1"/>
              <a:t>upward</a:t>
            </a:r>
            <a:r>
              <a:rPr lang="it-IT" dirty="0"/>
              <a:t>, </a:t>
            </a:r>
            <a:r>
              <a:rPr lang="it-IT" dirty="0" err="1"/>
              <a:t>every</a:t>
            </a:r>
            <a:r>
              <a:rPr lang="it-IT" dirty="0"/>
              <a:t> </a:t>
            </a:r>
            <a:r>
              <a:rPr lang="it-IT" dirty="0" err="1"/>
              <a:t>instance</a:t>
            </a:r>
            <a:r>
              <a:rPr lang="it-IT" dirty="0"/>
              <a:t> </a:t>
            </a:r>
            <a:r>
              <a:rPr lang="it-IT" dirty="0" err="1"/>
              <a:t>moves</a:t>
            </a:r>
            <a:r>
              <a:rPr lang="it-IT" dirty="0"/>
              <a:t> a </a:t>
            </a:r>
            <a:r>
              <a:rPr lang="it-IT" dirty="0" err="1"/>
              <a:t>count</a:t>
            </a:r>
            <a:r>
              <a:rPr lang="it-IT" dirty="0"/>
              <a:t> of 1 from the N </a:t>
            </a:r>
            <a:r>
              <a:rPr lang="it-IT" dirty="0" err="1"/>
              <a:t>row</a:t>
            </a:r>
            <a:r>
              <a:rPr lang="it-IT" dirty="0"/>
              <a:t> to the Y </a:t>
            </a:r>
            <a:r>
              <a:rPr lang="it-IT" dirty="0" err="1"/>
              <a:t>row</a:t>
            </a:r>
            <a:r>
              <a:rPr lang="it-IT" dirty="0"/>
              <a:t>, </a:t>
            </a:r>
            <a:r>
              <a:rPr lang="it-IT" dirty="0" err="1"/>
              <a:t>resulting</a:t>
            </a:r>
            <a:r>
              <a:rPr lang="it-IT" dirty="0"/>
              <a:t> in a new </a:t>
            </a:r>
            <a:r>
              <a:rPr lang="it-IT" dirty="0" err="1"/>
              <a:t>confusion</a:t>
            </a:r>
            <a:r>
              <a:rPr lang="it-IT" dirty="0"/>
              <a:t> </a:t>
            </a:r>
            <a:r>
              <a:rPr lang="it-IT" dirty="0" err="1"/>
              <a:t>matrix</a:t>
            </a:r>
            <a:r>
              <a:rPr lang="it-IT" dirty="0"/>
              <a:t>.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confusion</a:t>
            </a:r>
            <a:r>
              <a:rPr lang="it-IT" dirty="0"/>
              <a:t> </a:t>
            </a:r>
            <a:r>
              <a:rPr lang="it-IT" dirty="0" err="1"/>
              <a:t>matrix</a:t>
            </a:r>
            <a:r>
              <a:rPr lang="it-IT" dirty="0"/>
              <a:t> </a:t>
            </a:r>
            <a:r>
              <a:rPr lang="it-IT" dirty="0" err="1"/>
              <a:t>maps</a:t>
            </a:r>
            <a:r>
              <a:rPr lang="it-IT" dirty="0"/>
              <a:t> to a (fp rate, </a:t>
            </a:r>
            <a:r>
              <a:rPr lang="it-IT" dirty="0" err="1"/>
              <a:t>tp</a:t>
            </a:r>
            <a:r>
              <a:rPr lang="it-IT" dirty="0"/>
              <a:t> rate) </a:t>
            </a:r>
            <a:r>
              <a:rPr lang="it-IT" dirty="0" err="1"/>
              <a:t>pair</a:t>
            </a:r>
            <a:r>
              <a:rPr lang="it-IT" dirty="0"/>
              <a:t> in ROC </a:t>
            </a:r>
            <a:r>
              <a:rPr lang="it-IT" dirty="0" err="1"/>
              <a:t>space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66164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Piemontese</dc:creator>
  <cp:lastModifiedBy>Antonio Piemontese</cp:lastModifiedBy>
  <cp:revision>1</cp:revision>
  <dcterms:created xsi:type="dcterms:W3CDTF">2026-06-21T18:47:30Z</dcterms:created>
  <dcterms:modified xsi:type="dcterms:W3CDTF">2026-06-21T18:47:45Z</dcterms:modified>
</cp:coreProperties>
</file>